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9" r:id="rId9"/>
    <p:sldId id="262" r:id="rId10"/>
    <p:sldId id="270" r:id="rId11"/>
    <p:sldId id="264" r:id="rId12"/>
    <p:sldId id="271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F25AA-1F79-83C1-EC80-3FC816249688}" v="96" dt="2026-03-10T22:38:22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+mj-lt"/>
                <a:cs typeface="+mj-lt"/>
              </a:rPr>
              <a:t>HealthWise</a:t>
            </a:r>
            <a:r>
              <a:rPr lang="en-US" dirty="0">
                <a:ea typeface="+mj-lt"/>
                <a:cs typeface="+mj-lt"/>
              </a:rPr>
              <a:t>: Fuzzy Expert System for CHD Diagnosis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Student: Asala Abu </a:t>
            </a:r>
            <a:r>
              <a:rPr lang="en-US" dirty="0" err="1">
                <a:ea typeface="+mn-lt"/>
                <a:cs typeface="+mn-lt"/>
              </a:rPr>
              <a:t>Ghararah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t>Course: Expert Systems</a:t>
            </a:r>
            <a:endParaRPr lang="en-US"/>
          </a:p>
          <a:p>
            <a:r>
              <a:rPr dirty="0"/>
              <a:t>Major: Data Science &amp; Artificial Intelligence</a:t>
            </a:r>
            <a:endParaRPr dirty="0">
              <a:ea typeface="Calibri"/>
              <a:cs typeface="Calibri"/>
            </a:endParaRPr>
          </a:p>
          <a:p>
            <a:r>
              <a:rPr dirty="0"/>
              <a:t>University College of Applied Sciences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Coronary Heart Disease (CHD) is one of the leading causes of death worldwide.</a:t>
            </a:r>
          </a:p>
          <a:p>
            <a:r>
              <a:t>Early detection of CHD risk is important for prevention.</a:t>
            </a:r>
          </a:p>
          <a:p>
            <a:r>
              <a:t>Medical data is often uncertain, which makes traditional threshold-based systems less effective.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Fuzzy Logic?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Fuzzy logic handles uncertainty in data.</a:t>
            </a:r>
          </a:p>
          <a:p>
            <a:r>
              <a:t>It represents variables using linguistic terms such as Low, Medium, and High.</a:t>
            </a:r>
          </a:p>
          <a:p>
            <a:r>
              <a:t>This approach simulates human expert reasoning in medical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uses three medical indicators:</a:t>
            </a:r>
          </a:p>
          <a:p>
            <a:r>
              <a:t>• Blood Pressure</a:t>
            </a:r>
          </a:p>
          <a:p>
            <a:r>
              <a:t>• Cholesterol Level</a:t>
            </a:r>
          </a:p>
          <a:p>
            <a:r>
              <a:t>• Heart Rate</a:t>
            </a:r>
          </a:p>
          <a:p>
            <a:r>
              <a:t>These variables are used to estimate CHD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input variable is represented using triangular membership functions.</a:t>
            </a:r>
          </a:p>
          <a:p>
            <a:r>
              <a:t>Blood Pressure → Low, Medium, High</a:t>
            </a:r>
          </a:p>
          <a:p>
            <a:r>
              <a:t>Cholesterol → Low, High</a:t>
            </a:r>
          </a:p>
          <a:p>
            <a:r>
              <a:t>Heart Rate → Slow, Moderate, Fast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33C8EE-F4CF-8F2A-0969-80D4B6E6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36" y="674876"/>
            <a:ext cx="3543427" cy="248039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68410" y="1111170"/>
            <a:ext cx="828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AF86792-8274-26C8-1E1B-41081AD4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37" y="685990"/>
            <a:ext cx="3549705" cy="245817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227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7750" y="3428998"/>
            <a:ext cx="3141678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413E594-0A4D-40AF-C5F2-9999D3CFA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7" y="3671316"/>
            <a:ext cx="3523684" cy="25458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B8886E-DDF1-E408-87A8-C20FF0A2B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628" y="3671316"/>
            <a:ext cx="3509923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Rule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contains six fuzzy rules.</a:t>
            </a:r>
          </a:p>
          <a:p>
            <a:r>
              <a:t>Example:</a:t>
            </a:r>
          </a:p>
          <a:p>
            <a:r>
              <a:t>IF Blood Pressure is High AND Cholesterol is High AND Heart Rate is Fast</a:t>
            </a:r>
          </a:p>
          <a:p>
            <a:r>
              <a:t>THEN CHD Risk is Sick.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3F64-2B37-7F5F-45AE-33F1371C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Table 1: Fuzzy Rule Base</a:t>
            </a:r>
            <a:endParaRPr lang="en-US" b="1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51E67D-7305-3572-A64F-F34AF0BC9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39509"/>
              </p:ext>
            </p:extLst>
          </p:nvPr>
        </p:nvGraphicFramePr>
        <p:xfrm>
          <a:off x="457200" y="1600200"/>
          <a:ext cx="8229600" cy="4649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15328167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8231204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6020904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73315141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64424630"/>
                    </a:ext>
                  </a:extLst>
                </a:gridCol>
              </a:tblGrid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893650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516357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725227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422668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79059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192591"/>
                  </a:ext>
                </a:extLst>
              </a:tr>
              <a:tr h="6641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7760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FA41CC-A918-7351-D252-586FEE0B7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219038"/>
              </p:ext>
            </p:extLst>
          </p:nvPr>
        </p:nvGraphicFramePr>
        <p:xfrm>
          <a:off x="474452" y="1639018"/>
          <a:ext cx="8252220" cy="45723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0444">
                  <a:extLst>
                    <a:ext uri="{9D8B030D-6E8A-4147-A177-3AD203B41FA5}">
                      <a16:colId xmlns:a16="http://schemas.microsoft.com/office/drawing/2014/main" val="3355555246"/>
                    </a:ext>
                  </a:extLst>
                </a:gridCol>
                <a:gridCol w="1650444">
                  <a:extLst>
                    <a:ext uri="{9D8B030D-6E8A-4147-A177-3AD203B41FA5}">
                      <a16:colId xmlns:a16="http://schemas.microsoft.com/office/drawing/2014/main" val="2260602601"/>
                    </a:ext>
                  </a:extLst>
                </a:gridCol>
                <a:gridCol w="1650444">
                  <a:extLst>
                    <a:ext uri="{9D8B030D-6E8A-4147-A177-3AD203B41FA5}">
                      <a16:colId xmlns:a16="http://schemas.microsoft.com/office/drawing/2014/main" val="1611961250"/>
                    </a:ext>
                  </a:extLst>
                </a:gridCol>
                <a:gridCol w="1650444">
                  <a:extLst>
                    <a:ext uri="{9D8B030D-6E8A-4147-A177-3AD203B41FA5}">
                      <a16:colId xmlns:a16="http://schemas.microsoft.com/office/drawing/2014/main" val="955078678"/>
                    </a:ext>
                  </a:extLst>
                </a:gridCol>
                <a:gridCol w="1650444">
                  <a:extLst>
                    <a:ext uri="{9D8B030D-6E8A-4147-A177-3AD203B41FA5}">
                      <a16:colId xmlns:a16="http://schemas.microsoft.com/office/drawing/2014/main" val="3478223802"/>
                    </a:ext>
                  </a:extLst>
                </a:gridCol>
              </a:tblGrid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Blood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Cholesterol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Heart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587628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Healthy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084419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Healthy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719373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70815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Middle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962727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15822"/>
                  </a:ext>
                </a:extLst>
              </a:tr>
              <a:tr h="65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98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440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was implemented using Python.</a:t>
            </a:r>
          </a:p>
          <a:p>
            <a:r>
              <a:t>The scikit-fuzzy library was used to create fuzzy variables, membership functions, and inference rules.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C2F01-F24E-8410-FE0F-AB743204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 the System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79329-D0E8-E9CE-E95F-039E79F8F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The model was tested using three patientcases.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Patient 1 → Healthy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Patient 2 → Healthy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Patient 3 → Middle Risk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8F5AF-E311-1E17-C31B-86807C5A9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655607"/>
            <a:ext cx="5177790" cy="354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0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Fuzzy Inference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t>Steps of the fuzzy system:</a:t>
            </a:r>
          </a:p>
          <a:p>
            <a:r>
              <a:t>1. Fuzzification of inputs</a:t>
            </a:r>
          </a:p>
          <a:p>
            <a:r>
              <a:t>2. Rule evaluation</a:t>
            </a:r>
          </a:p>
          <a:p>
            <a:r>
              <a:t>3. Aggregation of rule outputs</a:t>
            </a:r>
          </a:p>
          <a:p>
            <a:r>
              <a:t>4. Defuzzification using centroid method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chemeClr val="accent3">
                    <a:lumMod val="49000"/>
                  </a:schemeClr>
                </a:solidFill>
                <a:ea typeface="+mn-lt"/>
                <a:cs typeface="+mn-lt"/>
              </a:rPr>
              <a:t>Inputs → Fuzzification → Rules → Defuzzification → CHD Risk</a:t>
            </a:r>
            <a:endParaRPr lang="en-US">
              <a:solidFill>
                <a:schemeClr val="accent3">
                  <a:lumMod val="49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17F8-656A-21B2-9DD5-5BCDCF18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Limitations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30E0E-717A-0643-D84D-E8F94A1D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5218"/>
            <a:ext cx="8229600" cy="44109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system uses only three medical parameters</a:t>
            </a:r>
          </a:p>
          <a:p>
            <a:r>
              <a:rPr lang="en-US">
                <a:ea typeface="+mn-lt"/>
                <a:cs typeface="+mn-lt"/>
              </a:rPr>
              <a:t>The rule base is limited</a:t>
            </a:r>
          </a:p>
          <a:p>
            <a:r>
              <a:rPr lang="en-US">
                <a:ea typeface="+mn-lt"/>
                <a:cs typeface="+mn-lt"/>
              </a:rPr>
              <a:t>The model was not tested on real medical datasets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19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fuzzy expert system successfully estimates CHD risk.</a:t>
            </a:r>
          </a:p>
          <a:p>
            <a:r>
              <a:t>Fuzzy logic helps model uncertainty in medical data.</a:t>
            </a:r>
          </a:p>
          <a:p>
            <a:r>
              <a:t>Such systems can support medical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HealthWise: Fuzzy Expert System for CHD Diagnosis</vt:lpstr>
      <vt:lpstr>Introduction</vt:lpstr>
      <vt:lpstr>Why Fuzzy Logic?</vt:lpstr>
      <vt:lpstr>System Inputs</vt:lpstr>
      <vt:lpstr>Membership Functions</vt:lpstr>
      <vt:lpstr>PowerPoint Presentation</vt:lpstr>
      <vt:lpstr>Fuzzy Rule Base</vt:lpstr>
      <vt:lpstr>Table 1: Fuzzy Rule Base</vt:lpstr>
      <vt:lpstr>System Implementation</vt:lpstr>
      <vt:lpstr>Testing the System</vt:lpstr>
      <vt:lpstr>Fuzzy Inference Process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93</cp:revision>
  <dcterms:created xsi:type="dcterms:W3CDTF">2013-01-27T09:14:16Z</dcterms:created>
  <dcterms:modified xsi:type="dcterms:W3CDTF">2026-03-10T22:39:21Z</dcterms:modified>
  <cp:category/>
</cp:coreProperties>
</file>